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678837-a7d8-8cd9-ae24-50835f295938}">
          <p14:sldIdLst>
            <p14:sldId id="256"/>
            <p14:sldId id="257"/>
            <p14:sldId id="258"/>
          </p14:sldIdLst>
        </p14:section>
        <p14:section name="Fields" id="{c0543115-567a-136f-8326-8eb927500d52}">
          <p14:sldIdLst>
            <p14:sldId id="259"/>
            <p14:sldId id="260"/>
            <p14:sldId id="261"/>
            <p14:sldId id="262"/>
            <p14:sldId id="263"/>
          </p14:sldIdLst>
        </p14:section>
        <p14:section name="Connections" id="{edb4af48-22be-2ab7-12a1-003f2bf80a87}">
          <p14:sldIdLst>
            <p14:sldId id="264"/>
            <p14:sldId id="265"/>
            <p14:sldId id="266"/>
          </p14:sldIdLst>
        </p14:section>
        <p14:section name="Roadmap" id="{6c1dc07a-b737-cbe2-e297-8c443a900033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781"/>
                </a:solidFill>
              </a:rPr>
              <a:t>Quantum &amp; PQC Tree   |   Developed by Syed Muhammad Tayyab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Quantum Computing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ottom stripe Quantum Computing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op stripe Quantum Hardware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ttom stripe Quantum Hardware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op stripe Post-Quantum Crypto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ottom stripe Post-Quantum Crypto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op stripe Software &amp; Applications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Software &amp; Applications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Comms, Policy &amp; Research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Comms, Policy &amp; Research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chemeClr val="accent3"/>
                </a:solidFill>
              </a:rPr>
              <a:t>THE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178308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Quantum Computing &amp; PQC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926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Quantum Core  |  Hardware  |  Post-Quantum Cryptography  |  Software  |  Policy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Developed by Syed Muhammad Tayyab</a:t>
            </a:r>
            <a:endParaRPr lang="en-US" sz="2200" dirty="0"/>
          </a:p>
        </p:txBody>
      </p:sp>
      <p:sp>
        <p:nvSpPr>
          <p:cNvPr id="18" name="Stat branches"/>
          <p:cNvSpPr/>
          <p:nvPr/>
        </p:nvSpPr>
        <p:spPr>
          <a:xfrm>
            <a:off x="82296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6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branches</a:t>
            </a:r>
            <a:endParaRPr lang="en-US" sz="1400" dirty="0"/>
          </a:p>
        </p:txBody>
      </p:sp>
      <p:sp>
        <p:nvSpPr>
          <p:cNvPr id="21" name="Stat fields"/>
          <p:cNvSpPr/>
          <p:nvPr/>
        </p:nvSpPr>
        <p:spPr>
          <a:xfrm>
            <a:off x="315468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29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315468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fields</a:t>
            </a:r>
            <a:endParaRPr lang="en-US" sz="1400" dirty="0"/>
          </a:p>
        </p:txBody>
      </p:sp>
      <p:sp>
        <p:nvSpPr>
          <p:cNvPr id="24" name="Stat tools"/>
          <p:cNvSpPr/>
          <p:nvPr/>
        </p:nvSpPr>
        <p:spPr>
          <a:xfrm>
            <a:off x="548640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113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tools</a:t>
            </a:r>
            <a:endParaRPr lang="en-US" sz="1400" dirty="0"/>
          </a:p>
        </p:txBody>
      </p:sp>
      <p:sp>
        <p:nvSpPr>
          <p:cNvPr id="27" name="Stat links"/>
          <p:cNvSpPr/>
          <p:nvPr/>
        </p:nvSpPr>
        <p:spPr>
          <a:xfrm>
            <a:off x="7818120" y="4206240"/>
            <a:ext cx="210312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4297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40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links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github.com/Syed-Muhammad-Tayyab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Full Tree</a:t>
            </a:r>
            <a:endParaRPr lang="en-US" sz="3000" dirty="0"/>
          </a:p>
        </p:txBody>
      </p:sp>
      <p:pic>
        <p:nvPicPr>
          <p:cNvPr id="3" name="Tree picture" descr="/mnt/user-data/outputs/qpqc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6183595"/>
          </a:xfrm>
          <a:prstGeom prst="rect">
            <a:avLst/>
          </a:prstGeom>
        </p:spPr>
      </p:pic>
      <p:sp>
        <p:nvSpPr>
          <p:cNvPr id="4" name="Legend Root"/>
          <p:cNvSpPr/>
          <p:nvPr/>
        </p:nvSpPr>
        <p:spPr>
          <a:xfrm>
            <a:off x="7589520" y="118872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Legend accent Root"/>
          <p:cNvSpPr/>
          <p:nvPr/>
        </p:nvSpPr>
        <p:spPr>
          <a:xfrm>
            <a:off x="7589520" y="1188720"/>
            <a:ext cx="82296" cy="1005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Root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Quantum + PQC</a:t>
            </a:r>
            <a:endParaRPr lang="en-US" sz="1600" dirty="0"/>
          </a:p>
        </p:txBody>
      </p:sp>
      <p:sp>
        <p:nvSpPr>
          <p:cNvPr id="7" name="Legend Branches"/>
          <p:cNvSpPr/>
          <p:nvPr/>
        </p:nvSpPr>
        <p:spPr>
          <a:xfrm>
            <a:off x="7589520" y="237744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Legend accent Branches"/>
          <p:cNvSpPr/>
          <p:nvPr/>
        </p:nvSpPr>
        <p:spPr>
          <a:xfrm>
            <a:off x="7589520" y="2377440"/>
            <a:ext cx="82296" cy="1005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Branches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6 learning areas</a:t>
            </a:r>
            <a:endParaRPr lang="en-US" sz="1600" dirty="0"/>
          </a:p>
        </p:txBody>
      </p:sp>
      <p:sp>
        <p:nvSpPr>
          <p:cNvPr id="10" name="Legend Fields"/>
          <p:cNvSpPr/>
          <p:nvPr/>
        </p:nvSpPr>
        <p:spPr>
          <a:xfrm>
            <a:off x="7589520" y="356616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egend accent Fields"/>
          <p:cNvSpPr/>
          <p:nvPr/>
        </p:nvSpPr>
        <p:spPr>
          <a:xfrm>
            <a:off x="7589520" y="3566160"/>
            <a:ext cx="82296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Fields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29 specialties</a:t>
            </a:r>
            <a:endParaRPr lang="en-US" sz="1600" dirty="0"/>
          </a:p>
        </p:txBody>
      </p:sp>
      <p:sp>
        <p:nvSpPr>
          <p:cNvPr id="13" name="Legend Leaves"/>
          <p:cNvSpPr/>
          <p:nvPr/>
        </p:nvSpPr>
        <p:spPr>
          <a:xfrm>
            <a:off x="7589520" y="4754880"/>
            <a:ext cx="402336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egend accent Leaves"/>
          <p:cNvSpPr/>
          <p:nvPr/>
        </p:nvSpPr>
        <p:spPr>
          <a:xfrm>
            <a:off x="7589520" y="4754880"/>
            <a:ext cx="82296" cy="1005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846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Leaves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sub-fields + tools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989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Full-size PNG included for GitHub and posters.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Six Branches, One Quantum Future</a:t>
            </a:r>
            <a:endParaRPr lang="en-US" sz="3000" dirty="0"/>
          </a:p>
        </p:txBody>
      </p:sp>
      <p:sp>
        <p:nvSpPr>
          <p:cNvPr id="3" name="Branch Foundations"/>
          <p:cNvSpPr/>
          <p:nvPr/>
        </p:nvSpPr>
        <p:spPr>
          <a:xfrm>
            <a:off x="54864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Branch bar Foundations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MATH, PHYSICS &amp; CODE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Foundations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Math, quantum mechanics and code: the base of everything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fields</a:t>
            </a:r>
            <a:endParaRPr lang="en-US" sz="1000" dirty="0"/>
          </a:p>
        </p:txBody>
      </p:sp>
      <p:sp>
        <p:nvSpPr>
          <p:cNvPr id="6" name="Branch Quantum Computing"/>
          <p:cNvSpPr/>
          <p:nvPr/>
        </p:nvSpPr>
        <p:spPr>
          <a:xfrm>
            <a:off x="429768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Branch bar Quantum Computing"/>
          <p:cNvSpPr/>
          <p:nvPr/>
        </p:nvSpPr>
        <p:spPr>
          <a:xfrm>
            <a:off x="4297680" y="1371600"/>
            <a:ext cx="356616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CORE THEORY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Quantum Computing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Qubits, gates, circuits, algorithms and error correction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3"/>
                </a:solidFill>
              </a:rPr>
              <a:t>5 fields</a:t>
            </a:r>
            <a:endParaRPr lang="en-US" sz="1000" dirty="0"/>
          </a:p>
        </p:txBody>
      </p:sp>
      <p:sp>
        <p:nvSpPr>
          <p:cNvPr id="9" name="Branch Quantum Hardware"/>
          <p:cNvSpPr/>
          <p:nvPr/>
        </p:nvSpPr>
        <p:spPr>
          <a:xfrm>
            <a:off x="8046720" y="137160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anch bar Quantum Hardware"/>
          <p:cNvSpPr/>
          <p:nvPr/>
        </p:nvSpPr>
        <p:spPr>
          <a:xfrm>
            <a:off x="8046720" y="1371600"/>
            <a:ext cx="356616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600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PHYSICAL SYSTEMS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Quantum Hardware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The machines that actually hold and control qubits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4"/>
                </a:solidFill>
              </a:rPr>
              <a:t>6 fields</a:t>
            </a:r>
            <a:endParaRPr lang="en-US" sz="1000" dirty="0"/>
          </a:p>
        </p:txBody>
      </p:sp>
      <p:sp>
        <p:nvSpPr>
          <p:cNvPr id="12" name="Branch Post-Quantum Crypto"/>
          <p:cNvSpPr/>
          <p:nvPr/>
        </p:nvSpPr>
        <p:spPr>
          <a:xfrm>
            <a:off x="54864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ranch bar Post-Quantum Crypto"/>
          <p:cNvSpPr/>
          <p:nvPr/>
        </p:nvSpPr>
        <p:spPr>
          <a:xfrm>
            <a:off x="548640" y="3931920"/>
            <a:ext cx="356616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QUANTUM-SAFE DEFENSE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Post-Quantum Crypto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Cryptography that survives quantum attacks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2"/>
                </a:solidFill>
              </a:rPr>
              <a:t>6 fields</a:t>
            </a:r>
            <a:endParaRPr lang="en-US" sz="1000" dirty="0"/>
          </a:p>
        </p:txBody>
      </p:sp>
      <p:sp>
        <p:nvSpPr>
          <p:cNvPr id="15" name="Branch Software &amp; Applications"/>
          <p:cNvSpPr/>
          <p:nvPr/>
        </p:nvSpPr>
        <p:spPr>
          <a:xfrm>
            <a:off x="429768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ranch bar Software &amp; Applications"/>
          <p:cNvSpPr/>
          <p:nvPr/>
        </p:nvSpPr>
        <p:spPr>
          <a:xfrm>
            <a:off x="4297680" y="3931920"/>
            <a:ext cx="3566160" cy="1097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BUILD &amp; USE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Software &amp; Applications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SDKs, algorithms in practice and cloud access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5"/>
                </a:solidFill>
              </a:rPr>
              <a:t>5 fields</a:t>
            </a:r>
            <a:endParaRPr lang="en-US" sz="1000" dirty="0"/>
          </a:p>
        </p:txBody>
      </p:sp>
      <p:sp>
        <p:nvSpPr>
          <p:cNvPr id="18" name="Branch Comms, Policy &amp; Research"/>
          <p:cNvSpPr/>
          <p:nvPr/>
        </p:nvSpPr>
        <p:spPr>
          <a:xfrm>
            <a:off x="8046720" y="393192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ranch bar Comms, Policy &amp; Research"/>
          <p:cNvSpPr/>
          <p:nvPr/>
        </p:nvSpPr>
        <p:spPr>
          <a:xfrm>
            <a:off x="8046720" y="3931920"/>
            <a:ext cx="3566160" cy="1097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1605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NETWORKS &amp; GOVERNANCE</a:t>
            </a:r>
            <a:endParaRPr lang="en-US" sz="10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2200" b="1" dirty="0">
                <a:solidFill>
                  <a:schemeClr val="bg1"/>
                </a:solidFill>
              </a:rPr>
              <a:t>Comms, Policy &amp; Research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Quantum networks, standards, roadmaps and careers</a:t>
            </a:r>
            <a:endParaRPr lang="en-US" sz="10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chemeClr val="accent6"/>
                </a:solidFill>
              </a:rPr>
              <a:t>3 fields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Foundations: Math, Physics &amp; Code</a:t>
            </a:r>
            <a:endParaRPr lang="en-US" sz="3000" dirty="0"/>
          </a:p>
        </p:txBody>
      </p:sp>
      <p:sp>
        <p:nvSpPr>
          <p:cNvPr id="3" name="Card Math for Quantum"/>
          <p:cNvSpPr/>
          <p:nvPr/>
        </p:nvSpPr>
        <p:spPr>
          <a:xfrm>
            <a:off x="54864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ccent Math for Quantum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Math for Quantum"/>
          <p:cNvSpPr txBox="1"/>
          <p:nvPr/>
        </p:nvSpPr>
        <p:spPr>
          <a:xfrm>
            <a:off x="74980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Math for Quantum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Complex Numbers · Linear Algebra · Dirac Notation · Probability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NumPy, SymPy, Wolfram Alpha, Desmos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3Blue1Brown Linear Algebra, MIT 18.06, Khan Academy</a:t>
            </a:r>
            <a:endParaRPr lang="en-US" sz="2200" dirty="0"/>
          </a:p>
        </p:txBody>
      </p:sp>
      <p:sp>
        <p:nvSpPr>
          <p:cNvPr id="6" name="Card Quantum Mechanics Basics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ccent Quantum Mechanics Basics"/>
          <p:cNvSpPr/>
          <p:nvPr/>
        </p:nvSpPr>
        <p:spPr>
          <a:xfrm>
            <a:off x="6172200" y="128016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Quantum Mechanics Basics"/>
          <p:cNvSpPr txBox="1"/>
          <p:nvPr/>
        </p:nvSpPr>
        <p:spPr>
          <a:xfrm>
            <a:off x="6373368" y="135331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Quantum Mechanics Basics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Superposition · Entanglement · Measurement · Uncertainty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QuTiP, Quirk, IBM Quantum Composer, Strawberry Fields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Quantum Country, MIT 8.04, Feynman Lectures</a:t>
            </a:r>
            <a:endParaRPr lang="en-US" sz="2200" dirty="0"/>
          </a:p>
        </p:txBody>
      </p:sp>
      <p:sp>
        <p:nvSpPr>
          <p:cNvPr id="9" name="Card Classical Computing &amp; Complexity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ccent Classical Computing &amp; Complexity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Classical Computing &amp; Complexity"/>
          <p:cNvSpPr txBox="1"/>
          <p:nvPr/>
        </p:nvSpPr>
        <p:spPr>
          <a:xfrm>
            <a:off x="74980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Classical Computing &amp; Complexity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Boolean Logic · Big-O · P vs NP · Reversible Computing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Python, Git, Jupyter, Graphviz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CS50, Nand2Tetris, MIT 6.006</a:t>
            </a:r>
            <a:endParaRPr lang="en-US" sz="2200" dirty="0"/>
          </a:p>
        </p:txBody>
      </p:sp>
      <p:sp>
        <p:nvSpPr>
          <p:cNvPr id="12" name="Card Python &amp; Dev Tools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ccent Python &amp; Dev Tools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Python &amp; Dev Tools"/>
          <p:cNvSpPr txBox="1"/>
          <p:nvPr/>
        </p:nvSpPr>
        <p:spPr>
          <a:xfrm>
            <a:off x="637336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Python &amp; Dev Tools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chemeClr val="bg2"/>
                </a:solidFill>
              </a:rPr>
              <a:t>Python · NumPy / SciPy · Jupyter / Colab · Git &amp; GitHub</a:t>
            </a:r>
            <a:endParaRPr lang="en-US" sz="22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chemeClr val="accent1"/>
                </a:solidFill>
              </a:rPr>
              <a:t>Tools: Python, VS Code, Jupyter, Conda, Git</a:t>
            </a:r>
            <a:endParaRPr lang="en-US" sz="2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Certs: CS50P, Python for Everybody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Quantum Computing Core</a:t>
            </a:r>
            <a:endParaRPr lang="en-US" sz="3000" dirty="0"/>
          </a:p>
        </p:txBody>
      </p:sp>
      <p:sp>
        <p:nvSpPr>
          <p:cNvPr id="3" name="Card Qubits &amp; Quantum Gates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Accent Qubits &amp; Quantum Gates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Qubits &amp; Quantum Gates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Qubits &amp; Quantum Gates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Qubits &amp; Bloch Sphere · Pauli / H / T Gates · CNOT &amp; Multi-qubit · Universal Gate Sets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Qiskit, Cirq, Quirk, Q#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IBM Quantum Learning, Qiskit Textbook</a:t>
            </a:r>
            <a:endParaRPr lang="en-US" sz="1700" dirty="0"/>
          </a:p>
        </p:txBody>
      </p:sp>
      <p:sp>
        <p:nvSpPr>
          <p:cNvPr id="6" name="Card Circuits &amp; Simulation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Accent Circuits &amp; Simulation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Circuits &amp; Simulation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Circuits &amp; Simulation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Circuit Design · Statevector Simulation · Noise Models · Transpilation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Qiskit Aer, Cirq, QuTiP, Qulacs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Qiskit Developer Certification</a:t>
            </a:r>
            <a:endParaRPr lang="en-US" sz="1700" dirty="0"/>
          </a:p>
        </p:txBody>
      </p:sp>
      <p:sp>
        <p:nvSpPr>
          <p:cNvPr id="9" name="Card Quantum Algorithms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Accent Quantum Algorithms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Quantum Algorithms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Quantum Algorithms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Deutsch-Jozsa · Grover Search · QFT &amp; Phase Estimation · Shor's Algorithm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Qiskit, PennyLane, Classiq, Cirq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Nielsen &amp; Chuang, Qiskit Global Summer School</a:t>
            </a:r>
            <a:endParaRPr lang="en-US" sz="1700" dirty="0"/>
          </a:p>
        </p:txBody>
      </p:sp>
      <p:sp>
        <p:nvSpPr>
          <p:cNvPr id="12" name="Card Quantum Error Correction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Accent Quantum Error Correction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Quantum Error Correction"/>
          <p:cNvSpPr txBox="1"/>
          <p:nvPr/>
        </p:nvSpPr>
        <p:spPr>
          <a:xfrm>
            <a:off x="74980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Quantum Error Correction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Noise &amp; Decoherence · Surface Codes · Stabilizer Codes · Fault Tolerance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Stim, PyMatching, Qiskit, Cirq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Preskill Lecture Notes, Error Correction Zoo</a:t>
            </a:r>
            <a:endParaRPr lang="en-US" sz="1700" dirty="0"/>
          </a:p>
        </p:txBody>
      </p:sp>
      <p:sp>
        <p:nvSpPr>
          <p:cNvPr id="15" name="Card Quantum Information &amp; Complexity"/>
          <p:cNvSpPr/>
          <p:nvPr/>
        </p:nvSpPr>
        <p:spPr>
          <a:xfrm>
            <a:off x="6172200" y="3840480"/>
            <a:ext cx="544068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Accent Quantum Information &amp; Complexity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Quantum Information &amp; Complexity"/>
          <p:cNvSpPr txBox="1"/>
          <p:nvPr/>
        </p:nvSpPr>
        <p:spPr>
          <a:xfrm>
            <a:off x="6373368" y="3913632"/>
            <a:ext cx="51114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Quantum Information &amp; Complexity</a:t>
            </a:r>
            <a:endParaRPr lang="en-US" sz="17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chemeClr val="bg2"/>
                </a:solidFill>
              </a:rPr>
              <a:t>Quantum Entropy · Entanglement Measures · BQP vs P / NP · No-Cloning &amp; Teleportation</a:t>
            </a:r>
            <a:endParaRPr lang="en-US" sz="17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chemeClr val="accent3"/>
                </a:solidFill>
              </a:rPr>
              <a:t>Tools: QuTiP, Qiskit, Mathematica</a:t>
            </a:r>
            <a:endParaRPr lang="en-US" sz="17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Certs: Watrous: Theory of Quantum Information, Aaronson Lectures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Quantum Hardware</a:t>
            </a:r>
            <a:endParaRPr lang="en-US" sz="3000" dirty="0"/>
          </a:p>
        </p:txBody>
      </p:sp>
      <p:sp>
        <p:nvSpPr>
          <p:cNvPr id="3" name="Card Superconducting Qubits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Accent Superconducting Qubits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Superconducting Qubits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Superconducting Qubits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Transmons · Josephson Junctions · Dilution Refrigerators · Microwave Control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Qiskit Metal, QuTiP, scQubits, Qiskit Pulse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Circuit QED Lectures</a:t>
            </a:r>
            <a:endParaRPr lang="en-US" sz="1600" dirty="0"/>
          </a:p>
        </p:txBody>
      </p:sp>
      <p:sp>
        <p:nvSpPr>
          <p:cNvPr id="6" name="Card Trapped Ions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Accent Trapped Ions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Trapped Ions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Trapped Ions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Paul Traps · Laser Gates · Long Coherence · Ion Shuttling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QuTiP, ARTIQ, QuantumOptics.jl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Quantinuum Resources, IonQ Docs</a:t>
            </a:r>
            <a:endParaRPr lang="en-US" sz="1600" dirty="0"/>
          </a:p>
        </p:txBody>
      </p:sp>
      <p:sp>
        <p:nvSpPr>
          <p:cNvPr id="9" name="Card Photonic Quantum Computing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 Photonic Quantum Computing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Photonic Quantum Computing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Photonic Quantum Computing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Single Photons · Linear Optics · Boson Sampling · Continuous-Variable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Strawberry Fields, Perceval, PennyLane, Piquasso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Xanadu Codebook, Quandela Docs</a:t>
            </a:r>
            <a:endParaRPr lang="en-US" sz="1600" dirty="0"/>
          </a:p>
        </p:txBody>
      </p:sp>
      <p:sp>
        <p:nvSpPr>
          <p:cNvPr id="12" name="Card Neutral Atoms"/>
          <p:cNvSpPr/>
          <p:nvPr/>
        </p:nvSpPr>
        <p:spPr>
          <a:xfrm>
            <a:off x="54864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Accent Neutral Atoms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Neutral Atoms"/>
          <p:cNvSpPr txBox="1"/>
          <p:nvPr/>
        </p:nvSpPr>
        <p:spPr>
          <a:xfrm>
            <a:off x="74980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Neutral Atoms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Optical Tweezers · Rydberg Gates · Analog Simulation · Large Arrays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Pulser, Bloqade, QuTiP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QuEra Docs, Pasqal Docs</a:t>
            </a:r>
            <a:endParaRPr lang="en-US" sz="1600" dirty="0"/>
          </a:p>
        </p:txBody>
      </p:sp>
      <p:sp>
        <p:nvSpPr>
          <p:cNvPr id="15" name="Card Spin &amp; Topological Qubits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Accent Spin &amp; Topological Qubits"/>
          <p:cNvSpPr/>
          <p:nvPr/>
        </p:nvSpPr>
        <p:spPr>
          <a:xfrm>
            <a:off x="429768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Spin &amp; Topological Qubits"/>
          <p:cNvSpPr txBox="1"/>
          <p:nvPr/>
        </p:nvSpPr>
        <p:spPr>
          <a:xfrm>
            <a:off x="449884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Spin &amp; Topological Qubits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Silicon Spin Qubits · NV Centers · Majorana Modes · Topological Protection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QuTiP, Kwant, Qiskit Metal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Microsoft Quantum Docs, Spin Qubit Reviews</a:t>
            </a:r>
            <a:endParaRPr lang="en-US" sz="1600" dirty="0"/>
          </a:p>
        </p:txBody>
      </p:sp>
      <p:sp>
        <p:nvSpPr>
          <p:cNvPr id="18" name="Card Control, Cryogenics &amp; Annealing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Accent Control, Cryogenics &amp; Annealing"/>
          <p:cNvSpPr/>
          <p:nvPr/>
        </p:nvSpPr>
        <p:spPr>
          <a:xfrm>
            <a:off x="8046720" y="3840480"/>
            <a:ext cx="82296" cy="2377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Control, Cryogenics &amp; Annealing"/>
          <p:cNvSpPr txBox="1"/>
          <p:nvPr/>
        </p:nvSpPr>
        <p:spPr>
          <a:xfrm>
            <a:off x="824788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Control, Cryogenics &amp; Annealing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Cryogenic Systems · Pulse-level Control · Readout Electronics · Quantum Annealing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4"/>
                </a:solidFill>
              </a:rPr>
              <a:t>Tools: Qiskit Pulse, QICK, D-Wave Ocean, LabOne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D-Wave Learning, Qiskit Pulse Docs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Post-Quantum Cryptography</a:t>
            </a:r>
            <a:endParaRPr lang="en-US" sz="3000" dirty="0"/>
          </a:p>
        </p:txBody>
      </p:sp>
      <p:sp>
        <p:nvSpPr>
          <p:cNvPr id="3" name="Card Lattice-Based Cryptography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Accent Lattice-Based Cryptography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Lattice-Based Cryptography"/>
          <p:cNvSpPr txBox="1"/>
          <p:nvPr/>
        </p:nvSpPr>
        <p:spPr>
          <a:xfrm>
            <a:off x="74980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Lattice-Based Cryptography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LWE / Module-LWE · ML-KEM (Kyber) · ML-DSA (Dilithium) · FN-DSA (Falcon)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liboqs, PQClean, OpenSSL 3 + oqs-provider, Bouncy Castle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NIST FIPS 203 / 204, Regev LWE Paper</a:t>
            </a:r>
            <a:endParaRPr lang="en-US" sz="1600" dirty="0"/>
          </a:p>
        </p:txBody>
      </p:sp>
      <p:sp>
        <p:nvSpPr>
          <p:cNvPr id="6" name="Card Hash-Based Signatures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Accent Hash-Based Signatures"/>
          <p:cNvSpPr/>
          <p:nvPr/>
        </p:nvSpPr>
        <p:spPr>
          <a:xfrm>
            <a:off x="429768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Hash-Based Signatures"/>
          <p:cNvSpPr txBox="1"/>
          <p:nvPr/>
        </p:nvSpPr>
        <p:spPr>
          <a:xfrm>
            <a:off x="449884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Hash-Based Signatures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Merkle Trees · SLH-DSA (SPHINCS+) · XMSS / LMS · Stateful vs Stateless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liboqs, SPHINCS+ Reference, PQClean, wolfSSL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NIST FIPS 205, NIST SP 800-208</a:t>
            </a:r>
            <a:endParaRPr lang="en-US" sz="1600" dirty="0"/>
          </a:p>
        </p:txBody>
      </p:sp>
      <p:sp>
        <p:nvSpPr>
          <p:cNvPr id="9" name="Card Code-Based Cryptography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Accent Code-Based Cryptography"/>
          <p:cNvSpPr/>
          <p:nvPr/>
        </p:nvSpPr>
        <p:spPr>
          <a:xfrm>
            <a:off x="8046720" y="128016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Code-Based Cryptography"/>
          <p:cNvSpPr txBox="1"/>
          <p:nvPr/>
        </p:nvSpPr>
        <p:spPr>
          <a:xfrm>
            <a:off x="8247888" y="135331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Code-Based Cryptography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HQC (NIST backup KEM) · Classic McEliece · Syndrome Decoding · Large Key Sizes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liboqs, PQClean, SageMath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NIST IR 8545, McEliece Papers</a:t>
            </a:r>
            <a:endParaRPr lang="en-US" sz="1600" dirty="0"/>
          </a:p>
        </p:txBody>
      </p:sp>
      <p:sp>
        <p:nvSpPr>
          <p:cNvPr id="12" name="Card Multivariate &amp; Isogeny"/>
          <p:cNvSpPr/>
          <p:nvPr/>
        </p:nvSpPr>
        <p:spPr>
          <a:xfrm>
            <a:off x="54864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Accent Multivariate &amp; Isogeny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Multivariate &amp; Isogeny"/>
          <p:cNvSpPr txBox="1"/>
          <p:nvPr/>
        </p:nvSpPr>
        <p:spPr>
          <a:xfrm>
            <a:off x="74980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Multivariate &amp; Isogeny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Multivariate Systems · Isogenies (CSIDH) · Why SIKE Broke · Why Rainbow Broke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SageMath, Magma, CSIDH Reference, PQClean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NIST Round Reports</a:t>
            </a:r>
            <a:endParaRPr lang="en-US" sz="1600" dirty="0"/>
          </a:p>
        </p:txBody>
      </p:sp>
      <p:sp>
        <p:nvSpPr>
          <p:cNvPr id="15" name="Card Quantum Threat &amp; Cryptanalysis"/>
          <p:cNvSpPr/>
          <p:nvPr/>
        </p:nvSpPr>
        <p:spPr>
          <a:xfrm>
            <a:off x="429768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Accent Quantum Threat &amp; Cryptanalysis"/>
          <p:cNvSpPr/>
          <p:nvPr/>
        </p:nvSpPr>
        <p:spPr>
          <a:xfrm>
            <a:off x="429768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Quantum Threat &amp; Cryptanalysis"/>
          <p:cNvSpPr txBox="1"/>
          <p:nvPr/>
        </p:nvSpPr>
        <p:spPr>
          <a:xfrm>
            <a:off x="449884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Quantum Threat &amp; Cryptanalysis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Shor vs RSA / ECC · Grover vs AES / SHA · Harvest Now, Decrypt Later · Resource Estimates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Qiskit, Azure Resource Estimator, Cirq, SageMath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Gidney &amp; Ekera Paper, Mosca's Theorem</a:t>
            </a:r>
            <a:endParaRPr lang="en-US" sz="1600" dirty="0"/>
          </a:p>
        </p:txBody>
      </p:sp>
      <p:sp>
        <p:nvSpPr>
          <p:cNvPr id="18" name="Card Crypto-Agility &amp; Migration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ccent Crypto-Agility &amp; Migration"/>
          <p:cNvSpPr/>
          <p:nvPr/>
        </p:nvSpPr>
        <p:spPr>
          <a:xfrm>
            <a:off x="8046720" y="3840480"/>
            <a:ext cx="82296" cy="23774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Crypto-Agility &amp; Migration"/>
          <p:cNvSpPr txBox="1"/>
          <p:nvPr/>
        </p:nvSpPr>
        <p:spPr>
          <a:xfrm>
            <a:off x="8247888" y="3913632"/>
            <a:ext cx="323697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Crypto-Agility &amp; Migration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50" dirty="0">
                <a:solidFill>
                  <a:schemeClr val="bg2"/>
                </a:solidFill>
              </a:rPr>
              <a:t>Crypto Inventory (CBOM) · Hybrid TLS / PKI · Key &amp; Cert Management · Testing &amp; Interop</a:t>
            </a:r>
            <a:endParaRPr lang="en-US" sz="16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150" dirty="0">
                <a:solidFill>
                  <a:schemeClr val="accent2"/>
                </a:solidFill>
              </a:rPr>
              <a:t>Tools: OQS-OpenSSH, OpenSSL 3, Cloudflare CIRCL, Open Quantum Safe</a:t>
            </a:r>
            <a:endParaRPr lang="en-US" sz="16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Certs: NIST NCCoE Migration, PQCA Resources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Software, Applications &amp; Policy</a:t>
            </a:r>
            <a:endParaRPr lang="en-US" sz="3000" dirty="0"/>
          </a:p>
        </p:txBody>
      </p:sp>
      <p:sp>
        <p:nvSpPr>
          <p:cNvPr id="3" name="Card Quantum Software &amp; SDKs"/>
          <p:cNvSpPr/>
          <p:nvPr/>
        </p:nvSpPr>
        <p:spPr>
          <a:xfrm>
            <a:off x="54864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ccent Quantum Software &amp; SDKs"/>
          <p:cNvSpPr/>
          <p:nvPr/>
        </p:nvSpPr>
        <p:spPr>
          <a:xfrm>
            <a:off x="54864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Quantum Software &amp; SDKs"/>
          <p:cNvSpPr txBox="1"/>
          <p:nvPr/>
        </p:nvSpPr>
        <p:spPr>
          <a:xfrm>
            <a:off x="74980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SOFTWARE &amp; APPLICATIONS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Software &amp; SDKs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Qiskit · Cirq · PennyLane · Q# / Silq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Qiskit, Cirq, PennyLane, Braket SDK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Qiskit Developer Certification, Unitary Fund Tutorials</a:t>
            </a:r>
            <a:endParaRPr lang="en-US" sz="900" dirty="0"/>
          </a:p>
        </p:txBody>
      </p:sp>
      <p:sp>
        <p:nvSpPr>
          <p:cNvPr id="6" name="Card Quantum Machine Learning"/>
          <p:cNvSpPr/>
          <p:nvPr/>
        </p:nvSpPr>
        <p:spPr>
          <a:xfrm>
            <a:off x="336042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Accent Quantum Machine Learning"/>
          <p:cNvSpPr/>
          <p:nvPr/>
        </p:nvSpPr>
        <p:spPr>
          <a:xfrm>
            <a:off x="336042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Quantum Machine Learning"/>
          <p:cNvSpPr txBox="1"/>
          <p:nvPr/>
        </p:nvSpPr>
        <p:spPr>
          <a:xfrm>
            <a:off x="356158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SOFTWARE &amp; APPLICATIONS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Machine Learning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Variational Circuits · Quantum Kernels · Hybrid Models · Barren Plateaus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PennyLane, TensorFlow Quantum, Qiskit ML, PyTorch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PennyLane Codebook, Xanadu QML Course</a:t>
            </a:r>
            <a:endParaRPr lang="en-US" sz="900" dirty="0"/>
          </a:p>
        </p:txBody>
      </p:sp>
      <p:sp>
        <p:nvSpPr>
          <p:cNvPr id="9" name="Card Quantum Chemistry &amp; Simulation"/>
          <p:cNvSpPr/>
          <p:nvPr/>
        </p:nvSpPr>
        <p:spPr>
          <a:xfrm>
            <a:off x="617220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Accent Quantum Chemistry &amp; Simulation"/>
          <p:cNvSpPr/>
          <p:nvPr/>
        </p:nvSpPr>
        <p:spPr>
          <a:xfrm>
            <a:off x="617220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Quantum Chemistry &amp; Simulation"/>
          <p:cNvSpPr txBox="1"/>
          <p:nvPr/>
        </p:nvSpPr>
        <p:spPr>
          <a:xfrm>
            <a:off x="637336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SOFTWARE &amp; APPLICATIONS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Chemistry &amp; Simulation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VQE · Hamiltonian Simulation · Molecular Modeling · Materials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Qiskit Nature, OpenFermion, PySCF, Tequila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Qiskit Nature Docs, OpenFermion Tutorials</a:t>
            </a:r>
            <a:endParaRPr lang="en-US" sz="900" dirty="0"/>
          </a:p>
        </p:txBody>
      </p:sp>
      <p:sp>
        <p:nvSpPr>
          <p:cNvPr id="12" name="Card Quantum Optimization"/>
          <p:cNvSpPr/>
          <p:nvPr/>
        </p:nvSpPr>
        <p:spPr>
          <a:xfrm>
            <a:off x="8983980" y="128016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Accent Quantum Optimization"/>
          <p:cNvSpPr/>
          <p:nvPr/>
        </p:nvSpPr>
        <p:spPr>
          <a:xfrm>
            <a:off x="8983980" y="128016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Quantum Optimization"/>
          <p:cNvSpPr txBox="1"/>
          <p:nvPr/>
        </p:nvSpPr>
        <p:spPr>
          <a:xfrm>
            <a:off x="9185148" y="135331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SOFTWARE &amp; APPLICATIONS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Optimization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QAOA · Quantum Annealing · QUBO Modeling · Logistics &amp; Finance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D-Wave Ocean, Qiskit Optimization, PyQUBO, CVXPY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D-Wave Learning, Qiskit Optimization Docs</a:t>
            </a:r>
            <a:endParaRPr lang="en-US" sz="900" dirty="0"/>
          </a:p>
        </p:txBody>
      </p:sp>
      <p:sp>
        <p:nvSpPr>
          <p:cNvPr id="15" name="Card Quantum Cloud Platforms"/>
          <p:cNvSpPr/>
          <p:nvPr/>
        </p:nvSpPr>
        <p:spPr>
          <a:xfrm>
            <a:off x="548640" y="384048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Accent Quantum Cloud Platforms"/>
          <p:cNvSpPr/>
          <p:nvPr/>
        </p:nvSpPr>
        <p:spPr>
          <a:xfrm>
            <a:off x="548640" y="3840480"/>
            <a:ext cx="82296" cy="2377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Quantum Cloud Platforms"/>
          <p:cNvSpPr txBox="1"/>
          <p:nvPr/>
        </p:nvSpPr>
        <p:spPr>
          <a:xfrm>
            <a:off x="749808" y="391363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SOFTWARE &amp; APPLICATIONS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Cloud Platforms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IBM Quantum · Amazon Braket · Azure Quantum · Hybrid Workflows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5"/>
                </a:solidFill>
              </a:rPr>
              <a:t>Tools: IBM Quantum, Amazon Braket, Azure Quantum, Qiskit Runtime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IBM Quantum Learning, AWS Braket Workshops</a:t>
            </a:r>
            <a:endParaRPr lang="en-US" sz="900" dirty="0"/>
          </a:p>
        </p:txBody>
      </p:sp>
      <p:sp>
        <p:nvSpPr>
          <p:cNvPr id="18" name="Card Quantum Communication &amp; QKD"/>
          <p:cNvSpPr/>
          <p:nvPr/>
        </p:nvSpPr>
        <p:spPr>
          <a:xfrm>
            <a:off x="3360420" y="384048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Accent Quantum Communication &amp; QKD"/>
          <p:cNvSpPr/>
          <p:nvPr/>
        </p:nvSpPr>
        <p:spPr>
          <a:xfrm>
            <a:off x="336042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Quantum Communication &amp; QKD"/>
          <p:cNvSpPr txBox="1"/>
          <p:nvPr/>
        </p:nvSpPr>
        <p:spPr>
          <a:xfrm>
            <a:off x="3561588" y="391363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COMMS, POLICY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Quantum Communication &amp; QKD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BB84 / E91 · Quantum Repeaters · Quantum Internet · QRNG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QKDSim, SeQUeNCe, NetSquid, Qiskit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Quantum Internet Alliance, ETSI QKD Standards</a:t>
            </a:r>
            <a:endParaRPr lang="en-US" sz="900" dirty="0"/>
          </a:p>
        </p:txBody>
      </p:sp>
      <p:sp>
        <p:nvSpPr>
          <p:cNvPr id="21" name="Card Standards, Policy &amp; Governance"/>
          <p:cNvSpPr/>
          <p:nvPr/>
        </p:nvSpPr>
        <p:spPr>
          <a:xfrm>
            <a:off x="6172200" y="384048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Accent Standards, Policy &amp; Governance"/>
          <p:cNvSpPr/>
          <p:nvPr/>
        </p:nvSpPr>
        <p:spPr>
          <a:xfrm>
            <a:off x="617220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Standards, Policy &amp; Governance"/>
          <p:cNvSpPr txBox="1"/>
          <p:nvPr/>
        </p:nvSpPr>
        <p:spPr>
          <a:xfrm>
            <a:off x="6373368" y="391363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COMMS, POLICY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Standards, Policy &amp; Governance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NIST PQC Standards · CNSA 2.0 Timeline · Compliance &amp; Risk · Quantum Readiness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NIST CSRC, CycloneDX CBOM, ETSI Docs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CISSP, ISO 27001, PQCC Roadmap</a:t>
            </a:r>
            <a:endParaRPr lang="en-US" sz="900" dirty="0"/>
          </a:p>
        </p:txBody>
      </p:sp>
      <p:sp>
        <p:nvSpPr>
          <p:cNvPr id="24" name="Card Research, Careers &amp; Community"/>
          <p:cNvSpPr/>
          <p:nvPr/>
        </p:nvSpPr>
        <p:spPr>
          <a:xfrm>
            <a:off x="8983980" y="3840480"/>
            <a:ext cx="262890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Accent Research, Careers &amp; Community"/>
          <p:cNvSpPr/>
          <p:nvPr/>
        </p:nvSpPr>
        <p:spPr>
          <a:xfrm>
            <a:off x="8983980" y="3840480"/>
            <a:ext cx="82296" cy="23774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Research, Careers &amp; Community"/>
          <p:cNvSpPr txBox="1"/>
          <p:nvPr/>
        </p:nvSpPr>
        <p:spPr>
          <a:xfrm>
            <a:off x="9185148" y="3913632"/>
            <a:ext cx="229971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COMMS, POLICY &amp; RESEARCH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Research, Careers &amp; Community</a:t>
            </a:r>
            <a:endParaRPr lang="en-US" sz="9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chemeClr val="bg2"/>
                </a:solidFill>
              </a:rPr>
              <a:t>Reading arXiv · Open-Source Contribution · Hackathons · Careers &amp; Degrees</a:t>
            </a:r>
            <a:endParaRPr lang="en-US" sz="900" dirty="0"/>
          </a:p>
          <a:p>
            <a:pPr indent="0" marL="0">
              <a:spcBef>
                <a:spcPts val="500"/>
              </a:spcBef>
              <a:buNone/>
            </a:pPr>
            <a:r>
              <a:rPr lang="en-US" sz="1050" dirty="0">
                <a:solidFill>
                  <a:schemeClr val="accent6"/>
                </a:solidFill>
              </a:rPr>
              <a:t>Tools: arXiv quant-ph, Qiskit Slack, Unitary Fund, Zotero</a:t>
            </a:r>
            <a:endParaRPr lang="en-US" sz="9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chemeClr val="bg2"/>
                </a:solidFill>
              </a:rPr>
              <a:t>Certs: Qiskit Advocate, Quantum Open Source Foundation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How Every Field Connects</a:t>
            </a:r>
            <a:endParaRPr lang="en-US" sz="3000" dirty="0"/>
          </a:p>
        </p:txBody>
      </p:sp>
      <p:pic>
        <p:nvPicPr>
          <p:cNvPr id="3" name="Link map picture" descr="/mnt/user-data/outputs/qpqc_lin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766560" cy="5601208"/>
          </a:xfrm>
          <a:prstGeom prst="rect">
            <a:avLst/>
          </a:prstGeom>
        </p:spPr>
      </p:pic>
      <p:sp>
        <p:nvSpPr>
          <p:cNvPr id="4" name="Key link 1"/>
          <p:cNvSpPr/>
          <p:nvPr/>
        </p:nvSpPr>
        <p:spPr>
          <a:xfrm>
            <a:off x="7589520" y="118872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225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Math &amp; Physics -&gt; Qubits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linear algebra describes quantum states</a:t>
            </a:r>
            <a:endParaRPr lang="en-US" sz="1300" dirty="0"/>
          </a:p>
        </p:txBody>
      </p:sp>
      <p:sp>
        <p:nvSpPr>
          <p:cNvPr id="6" name="Key link 2"/>
          <p:cNvSpPr/>
          <p:nvPr/>
        </p:nvSpPr>
        <p:spPr>
          <a:xfrm>
            <a:off x="7589520" y="2039112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2075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Circuits -&gt; Algorithms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Shor and Grover define the threat</a:t>
            </a:r>
            <a:endParaRPr lang="en-US" sz="1300" dirty="0"/>
          </a:p>
        </p:txBody>
      </p:sp>
      <p:sp>
        <p:nvSpPr>
          <p:cNvPr id="8" name="Key link 3"/>
          <p:cNvSpPr/>
          <p:nvPr/>
        </p:nvSpPr>
        <p:spPr>
          <a:xfrm>
            <a:off x="7589520" y="2889504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Shor vs RSA / ECC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why we need post-quantum crypto</a:t>
            </a:r>
            <a:endParaRPr lang="en-US" sz="1300" dirty="0"/>
          </a:p>
        </p:txBody>
      </p:sp>
      <p:sp>
        <p:nvSpPr>
          <p:cNvPr id="10" name="Key link 4"/>
          <p:cNvSpPr/>
          <p:nvPr/>
        </p:nvSpPr>
        <p:spPr>
          <a:xfrm>
            <a:off x="7589520" y="3739896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776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Lattice &amp; Hash PQC -&gt; Migration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ML-KEM, ML-DSA, SLH-DSA in real systems</a:t>
            </a:r>
            <a:endParaRPr lang="en-US" sz="1300" dirty="0"/>
          </a:p>
        </p:txBody>
      </p:sp>
      <p:sp>
        <p:nvSpPr>
          <p:cNvPr id="12" name="Key link 5"/>
          <p:cNvSpPr/>
          <p:nvPr/>
        </p:nvSpPr>
        <p:spPr>
          <a:xfrm>
            <a:off x="7589520" y="4590288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46268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Hardware -&gt; Error Correction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fault tolerance enables big algorithms</a:t>
            </a:r>
            <a:endParaRPr lang="en-US" sz="1300" dirty="0"/>
          </a:p>
        </p:txBody>
      </p:sp>
      <p:sp>
        <p:nvSpPr>
          <p:cNvPr id="14" name="Key link 6"/>
          <p:cNvSpPr/>
          <p:nvPr/>
        </p:nvSpPr>
        <p:spPr>
          <a:xfrm>
            <a:off x="7589520" y="5440680"/>
            <a:ext cx="4069080" cy="7315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54772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Policy -&gt; Threat -&gt; Planning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timelines drive crypto-agility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Quantum-Safe Migration Journey</a:t>
            </a:r>
            <a:endParaRPr lang="en-US" sz="3000" dirty="0"/>
          </a:p>
        </p:txBody>
      </p:sp>
      <p:graphicFrame>
        <p:nvGraphicFramePr>
          <p:cNvPr id="11" name="Lifecyc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45720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good practice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1. Inventory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Find every use of cryptography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CBOM, scanners, code search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2. Assess Risk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Rank by data lifetime and exposure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Mosca's theorem, HNDL review, threat models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 Plan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Pick algorithms and timelines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NIST FIPS 203/204/205, CNSA 2.0 dates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4. Prototype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Test PQC in a lab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liboqs, OQS-OpenSSL, test vectors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5. Hybrid Deploy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Combine classical + PQC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Hybrid TLS, dual-signed certs, X25519+ML-KEM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6. Migrate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Roll out to systems and PKI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Crypto-agile libraries, HSM updates, CI checks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7. Validate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Test speed, interop and safety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Benchmarks, fuzzing, side-channel review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8. Monitor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9D5FF"/>
                          </a:solidFill>
                        </a:rPr>
                        <a:t>Track standards and new attacks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7F3D0"/>
                          </a:solidFill>
                        </a:rPr>
                        <a:t>NIST updates, cryptanalysis news, re-audits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Migration Pipeline</a:t>
            </a:r>
            <a:endParaRPr lang="en-US" sz="3000" dirty="0"/>
          </a:p>
        </p:txBody>
      </p:sp>
      <p:pic>
        <p:nvPicPr>
          <p:cNvPr id="3" name="Lifecycle picture" descr="/mnt/user-data/outputs/qpqc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6715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Folder Structure for Your Study Repo</a:t>
            </a:r>
            <a:endParaRPr lang="en-US" sz="3000" dirty="0"/>
          </a:p>
        </p:txBody>
      </p:sp>
      <p:sp>
        <p:nvSpPr>
          <p:cNvPr id="3" name="Code panel 1"/>
          <p:cNvSpPr/>
          <p:nvPr/>
        </p:nvSpPr>
        <p:spPr>
          <a:xfrm>
            <a:off x="54864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Quantum-PQC-Guide/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00_Foundations/  [Math, Physics &amp; Code]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Math_For_Quantum/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Quantum_Mechanics_Basics/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Classical_Computing_Complexity/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Python_Dev_Tools/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01_Quantum_Computing/  [Core Theory]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Qubits_Gates/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Circuits_Simulation/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Quantum_Algorithms/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Quantum_Error_Correction/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Quantum_Information_Complexity/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02_Quantum_Hardware/  [Physical Systems]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Superconducting_Qubits/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Trapped_Ions/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Photonic_Quantum/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Neutral_Atoms/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Spin_Topological_Qubits/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Control_Cryo_Annealing/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03_Post_Quantum_Crypto/  [Quantum-Safe Defense]</a:t>
            </a:r>
            <a:endParaRPr lang="en-US" sz="1150" dirty="0"/>
          </a:p>
        </p:txBody>
      </p:sp>
      <p:sp>
        <p:nvSpPr>
          <p:cNvPr id="5" name="Code panel 2"/>
          <p:cNvSpPr/>
          <p:nvPr/>
        </p:nvSpPr>
        <p:spPr>
          <a:xfrm>
            <a:off x="6172200" y="1188720"/>
            <a:ext cx="5440680" cy="5074920"/>
          </a:xfrm>
          <a:prstGeom prst="rect">
            <a:avLst/>
          </a:prstGeom>
          <a:solidFill>
            <a:schemeClr val="tx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280160"/>
            <a:ext cx="502920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Lattice_Based/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Hash_Based_Signatures/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Code_Based/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Multivariate_Isogeny/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Quantum_Threat_Cryptanalysis/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Crypto_Agility_Migration/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04_Software_Applications/  [Build &amp; Use]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Quantum_SDKs/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Quantum_ML/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Quantum_Chemistry/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Quantum_Optimization/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Quantum_Cloud/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05_Comms_Policy_Research/  [Networks &amp; Governance]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Quantum_Communication_QKD/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Standards_Policy_Governance/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Research_Careers_Community/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06_Projects/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07_Labs_Notebooks/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08_Papers_Notes/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09_Resources/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Learning &amp; Certification Roadmap</a:t>
            </a:r>
            <a:endParaRPr lang="en-US" sz="3000" dirty="0"/>
          </a:p>
        </p:txBody>
      </p:sp>
      <p:sp>
        <p:nvSpPr>
          <p:cNvPr id="3" name="Track Beginner"/>
          <p:cNvSpPr/>
          <p:nvPr/>
        </p:nvSpPr>
        <p:spPr>
          <a:xfrm>
            <a:off x="548640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rack bar Beginner"/>
          <p:cNvSpPr/>
          <p:nvPr/>
        </p:nvSpPr>
        <p:spPr>
          <a:xfrm>
            <a:off x="548640" y="1280160"/>
            <a:ext cx="265176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Beginner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IBM Quantum Learning, Qiskit Textbook, Quantum Country, edX QM</a:t>
            </a:r>
            <a:endParaRPr lang="en-US" sz="1800" dirty="0"/>
          </a:p>
        </p:txBody>
      </p:sp>
      <p:sp>
        <p:nvSpPr>
          <p:cNvPr id="6" name="Track Quantum Developer"/>
          <p:cNvSpPr/>
          <p:nvPr/>
        </p:nvSpPr>
        <p:spPr>
          <a:xfrm>
            <a:off x="3355848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rack bar Quantum Developer"/>
          <p:cNvSpPr/>
          <p:nvPr/>
        </p:nvSpPr>
        <p:spPr>
          <a:xfrm>
            <a:off x="3355848" y="1280160"/>
            <a:ext cx="2651760" cy="914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Quantum Developer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Qiskit Developer Cert, PennyLane Codebook, Cirq, Azure Quantum</a:t>
            </a:r>
            <a:endParaRPr lang="en-US" sz="1800" dirty="0"/>
          </a:p>
        </p:txBody>
      </p:sp>
      <p:sp>
        <p:nvSpPr>
          <p:cNvPr id="9" name="Track PQC &amp; Security"/>
          <p:cNvSpPr/>
          <p:nvPr/>
        </p:nvSpPr>
        <p:spPr>
          <a:xfrm>
            <a:off x="6163056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rack bar PQC &amp; Security"/>
          <p:cNvSpPr/>
          <p:nvPr/>
        </p:nvSpPr>
        <p:spPr>
          <a:xfrm>
            <a:off x="6163056" y="1280160"/>
            <a:ext cx="2651760" cy="914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PQC &amp; Security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NIST PQC, Open Quantum Safe, ETSI Docs, CISSP/CISM + PQC reading</a:t>
            </a:r>
            <a:endParaRPr lang="en-US" sz="1800" dirty="0"/>
          </a:p>
        </p:txBody>
      </p:sp>
      <p:sp>
        <p:nvSpPr>
          <p:cNvPr id="12" name="Track Research"/>
          <p:cNvSpPr/>
          <p:nvPr/>
        </p:nvSpPr>
        <p:spPr>
          <a:xfrm>
            <a:off x="8970264" y="1280160"/>
            <a:ext cx="265176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rack bar Research"/>
          <p:cNvSpPr/>
          <p:nvPr/>
        </p:nvSpPr>
        <p:spPr>
          <a:xfrm>
            <a:off x="8970264" y="1280160"/>
            <a:ext cx="2651760" cy="914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53144" y="15087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Research</a:t>
            </a:r>
            <a:endParaRPr lang="en-US" sz="18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MIT Quantum Courses, Nielsen &amp; Chuang, Preskill Notes, arXiv</a:t>
            </a:r>
            <a:endParaRPr lang="en-US" sz="1800" dirty="0"/>
          </a:p>
        </p:txBody>
      </p:sp>
      <p:sp>
        <p:nvSpPr>
          <p:cNvPr id="15" name="Step Foundations"/>
          <p:cNvSpPr/>
          <p:nvPr/>
        </p:nvSpPr>
        <p:spPr>
          <a:xfrm>
            <a:off x="548640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num 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Foundations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Linear algebra, QM, Python</a:t>
            </a:r>
            <a:endParaRPr lang="en-US" sz="1600" dirty="0"/>
          </a:p>
        </p:txBody>
      </p:sp>
      <p:sp>
        <p:nvSpPr>
          <p:cNvPr id="19" name="Step Quantum Core"/>
          <p:cNvSpPr/>
          <p:nvPr/>
        </p:nvSpPr>
        <p:spPr>
          <a:xfrm>
            <a:off x="2798064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Step num 2"/>
          <p:cNvSpPr/>
          <p:nvPr/>
        </p:nvSpPr>
        <p:spPr>
          <a:xfrm>
            <a:off x="2980944" y="4023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809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980944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Quantum Core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Qubits, circuits, algorithms</a:t>
            </a:r>
            <a:endParaRPr lang="en-US" sz="1600" dirty="0"/>
          </a:p>
        </p:txBody>
      </p:sp>
      <p:sp>
        <p:nvSpPr>
          <p:cNvPr id="23" name="Step Pick a Path"/>
          <p:cNvSpPr/>
          <p:nvPr/>
        </p:nvSpPr>
        <p:spPr>
          <a:xfrm>
            <a:off x="5047488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Step num 3"/>
          <p:cNvSpPr/>
          <p:nvPr/>
        </p:nvSpPr>
        <p:spPr>
          <a:xfrm>
            <a:off x="5230368" y="4023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30368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Pick a Path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Developer, hardware or PQC</a:t>
            </a:r>
            <a:endParaRPr lang="en-US" sz="1600" dirty="0"/>
          </a:p>
        </p:txBody>
      </p:sp>
      <p:sp>
        <p:nvSpPr>
          <p:cNvPr id="27" name="Step Build"/>
          <p:cNvSpPr/>
          <p:nvPr/>
        </p:nvSpPr>
        <p:spPr>
          <a:xfrm>
            <a:off x="7296912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tep num 4"/>
          <p:cNvSpPr/>
          <p:nvPr/>
        </p:nvSpPr>
        <p:spPr>
          <a:xfrm>
            <a:off x="7479792" y="4023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797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479792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Qiskit labs, liboqs demos</a:t>
            </a:r>
            <a:endParaRPr lang="en-US" sz="1600" dirty="0"/>
          </a:p>
        </p:txBody>
      </p:sp>
      <p:sp>
        <p:nvSpPr>
          <p:cNvPr id="31" name="Step Ship &amp; Share"/>
          <p:cNvSpPr/>
          <p:nvPr/>
        </p:nvSpPr>
        <p:spPr>
          <a:xfrm>
            <a:off x="9546336" y="3840480"/>
            <a:ext cx="210312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Step num 5"/>
          <p:cNvSpPr/>
          <p:nvPr/>
        </p:nvSpPr>
        <p:spPr>
          <a:xfrm>
            <a:off x="9729216" y="40233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921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729216" y="461772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Ship &amp; Share</a:t>
            </a:r>
            <a:endParaRPr lang="en-US" sz="1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chemeClr val="bg2"/>
                </a:solidFill>
              </a:rPr>
              <a:t>Projects, write-ups, plans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7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stripe Foundations"/>
          <p:cNvSpPr/>
          <p:nvPr/>
        </p:nvSpPr>
        <p:spPr>
          <a:xfrm>
            <a:off x="0" y="0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Bottom stripe Foundations"/>
          <p:cNvSpPr/>
          <p:nvPr/>
        </p:nvSpPr>
        <p:spPr>
          <a:xfrm>
            <a:off x="0" y="6693408"/>
            <a:ext cx="2031492" cy="16459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op stripe Quantum Computing"/>
          <p:cNvSpPr/>
          <p:nvPr/>
        </p:nvSpPr>
        <p:spPr>
          <a:xfrm>
            <a:off x="2031492" y="0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Bottom stripe Quantum Computing"/>
          <p:cNvSpPr/>
          <p:nvPr/>
        </p:nvSpPr>
        <p:spPr>
          <a:xfrm>
            <a:off x="2031492" y="6693408"/>
            <a:ext cx="2031492" cy="16459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op stripe Quantum Hardware"/>
          <p:cNvSpPr/>
          <p:nvPr/>
        </p:nvSpPr>
        <p:spPr>
          <a:xfrm>
            <a:off x="4062984" y="0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Bottom stripe Quantum Hardware"/>
          <p:cNvSpPr/>
          <p:nvPr/>
        </p:nvSpPr>
        <p:spPr>
          <a:xfrm>
            <a:off x="4062984" y="6693408"/>
            <a:ext cx="2031492" cy="16459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op stripe Post-Quantum Crypto"/>
          <p:cNvSpPr/>
          <p:nvPr/>
        </p:nvSpPr>
        <p:spPr>
          <a:xfrm>
            <a:off x="6094476" y="0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Bottom stripe Post-Quantum Crypto"/>
          <p:cNvSpPr/>
          <p:nvPr/>
        </p:nvSpPr>
        <p:spPr>
          <a:xfrm>
            <a:off x="6094476" y="6693408"/>
            <a:ext cx="2031492" cy="1645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op stripe Software &amp; Applications"/>
          <p:cNvSpPr/>
          <p:nvPr/>
        </p:nvSpPr>
        <p:spPr>
          <a:xfrm>
            <a:off x="8125968" y="0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ottom stripe Software &amp; Applications"/>
          <p:cNvSpPr/>
          <p:nvPr/>
        </p:nvSpPr>
        <p:spPr>
          <a:xfrm>
            <a:off x="8125968" y="6693408"/>
            <a:ext cx="2031492" cy="16459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op stripe Comms, Policy &amp; Research"/>
          <p:cNvSpPr/>
          <p:nvPr/>
        </p:nvSpPr>
        <p:spPr>
          <a:xfrm>
            <a:off x="10157460" y="0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ttom stripe Comms, Policy &amp; Research"/>
          <p:cNvSpPr/>
          <p:nvPr/>
        </p:nvSpPr>
        <p:spPr>
          <a:xfrm>
            <a:off x="10157460" y="6693408"/>
            <a:ext cx="2031492" cy="16459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Learn it. Build it. Secure the quantum future.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Educational reference. Follow official NIST guidance before real-world deployment.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Developed by Syed Muhammad Tayyab  |  github.com/Syed-Muhammad-Tayyab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PQCTree">
  <a:themeElements>
    <a:clrScheme name="QPQCTree">
      <a:dk1>
        <a:srgbClr val="0D1117"/>
      </a:dk1>
      <a:lt1>
        <a:srgbClr val="FFFFFF"/>
      </a:lt1>
      <a:dk2>
        <a:srgbClr val="161B22"/>
      </a:dk2>
      <a:lt2>
        <a:srgbClr val="9AA4AF"/>
      </a:lt2>
      <a:accent1>
        <a:srgbClr val="F59E0B"/>
      </a:accent1>
      <a:accent2>
        <a:srgbClr val="EF4444"/>
      </a:accent2>
      <a:accent3>
        <a:srgbClr val="3B82F6"/>
      </a:accent3>
      <a:accent4>
        <a:srgbClr val="A855F7"/>
      </a:accent4>
      <a:accent5>
        <a:srgbClr val="10B981"/>
      </a:accent5>
      <a:accent6>
        <a:srgbClr val="06B6D4"/>
      </a:accent6>
      <a:hlink>
        <a:srgbClr val="58A6FF"/>
      </a:hlink>
      <a:folHlink>
        <a:srgbClr val="A855F7"/>
      </a:folHlink>
    </a:clrScheme>
    <a:fontScheme name="QPQCTre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 &amp; Post-Quantum Cryptography</dc:title>
  <dc:subject>PptxGenJS Presentation</dc:subject>
  <dc:creator>Syed</dc:creator>
  <cp:lastModifiedBy>Syed</cp:lastModifiedBy>
  <cp:revision>1</cp:revision>
  <dcterms:created xsi:type="dcterms:W3CDTF">2026-10-16T06:05:58Z</dcterms:created>
  <dcterms:modified xsi:type="dcterms:W3CDTF">2026-10-16T06:05:58Z</dcterms:modified>
</cp:coreProperties>
</file>